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4" r:id="rId9"/>
  </p:sldIdLst>
  <p:sldSz cx="12192000" cy="6858000"/>
  <p:notesSz cx="6858000" cy="9144000"/>
  <p:embeddedFontLst>
    <p:embeddedFont>
      <p:font typeface="Plus Jakarta Sans" panose="020B0604020202020204" charset="0"/>
      <p:regular r:id="rId11"/>
      <p:bold r:id="rId12"/>
      <p:italic r:id="rId13"/>
      <p:boldItalic r:id="rId14"/>
    </p:embeddedFont>
    <p:embeddedFont>
      <p:font typeface="Space Grotesk" panose="020B0604020202020204" charset="0"/>
      <p:regular r:id="rId15"/>
      <p:bold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ECD562-E695-4F71-AE16-4469DD5067F5}" v="43" dt="2026-10-07T20:47:23.959"/>
    <p1510:client id="{D19530B1-1A6D-40AD-95E9-70639A80F135}" v="111" dt="2026-10-07T21:10:06.799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 varScale="1">
        <p:scale>
          <a:sx n="100" d="100"/>
          <a:sy n="100" d="100"/>
        </p:scale>
        <p:origin x="0" y="0"/>
      </p:cViewPr>
      <p:guideLst>
        <p:guide orient="horz" pos="2160"/>
        <p:guide pos="2880"/>
      </p:guideLst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microsoft.com/office/2015/10/relationships/revisionInfo" Target="revisionInfo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4" name="Google Shape;164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0" name="Google Shape;180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7" name="Google Shape;19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9" name="Google Shape;22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532109" y="3746566"/>
            <a:ext cx="1085850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1770359" y="3746566"/>
            <a:ext cx="1485900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3408659" y="3746566"/>
            <a:ext cx="1724025" cy="390525"/>
          </a:xfrm>
          <a:prstGeom prst="roundRect">
            <a:avLst>
              <a:gd name="adj" fmla="val 19512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87" name="Google Shape;87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13084" y="3879916"/>
            <a:ext cx="1809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8" name="Google Shape;88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951334" y="3879916"/>
            <a:ext cx="142875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589634" y="3879916"/>
            <a:ext cx="161925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3"/>
          <p:cNvSpPr txBox="1"/>
          <p:nvPr/>
        </p:nvSpPr>
        <p:spPr>
          <a:xfrm>
            <a:off x="532109" y="1222738"/>
            <a:ext cx="115824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ARQUITECTURA DE COMPUTADORES — PROYECTO N° 16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532109" y="1575163"/>
            <a:ext cx="9101137" cy="108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F8FAFC"/>
                </a:solidFill>
                <a:latin typeface="Space Grotesk"/>
                <a:ea typeface="Space Grotesk"/>
                <a:cs typeface="Space Grotesk"/>
                <a:sym typeface="Space Grotesk"/>
              </a:rPr>
              <a:t>Simulador de Memoria Caché para Gráficos 3D</a:t>
            </a:r>
            <a:endParaRPr/>
          </a:p>
        </p:txBody>
      </p:sp>
      <p:sp>
        <p:nvSpPr>
          <p:cNvPr id="92" name="Google Shape;92;p13"/>
          <p:cNvSpPr txBox="1"/>
          <p:nvPr/>
        </p:nvSpPr>
        <p:spPr>
          <a:xfrm>
            <a:off x="532109" y="2855085"/>
            <a:ext cx="7239000" cy="5866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Optimización de latencias, jerarquía L2/L3 y políticas de acceso en el Graphics Pipeline</a:t>
            </a:r>
            <a:endParaRPr/>
          </a:p>
        </p:txBody>
      </p:sp>
      <p:sp>
        <p:nvSpPr>
          <p:cNvPr id="93" name="Google Shape;93;p13"/>
          <p:cNvSpPr txBox="1"/>
          <p:nvPr/>
        </p:nvSpPr>
        <p:spPr>
          <a:xfrm>
            <a:off x="703559" y="3841816"/>
            <a:ext cx="83820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C++17</a:t>
            </a:r>
            <a:endParaRPr/>
          </a:p>
        </p:txBody>
      </p:sp>
      <p:sp>
        <p:nvSpPr>
          <p:cNvPr id="94" name="Google Shape;94;p13"/>
          <p:cNvSpPr txBox="1"/>
          <p:nvPr/>
        </p:nvSpPr>
        <p:spPr>
          <a:xfrm>
            <a:off x="1941809" y="3841816"/>
            <a:ext cx="12382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Caché L2/L3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3580109" y="3841816"/>
            <a:ext cx="1476375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Renderizado 3D</a:t>
            </a:r>
            <a:endParaRPr/>
          </a:p>
        </p:txBody>
      </p:sp>
      <p:cxnSp>
        <p:nvCxnSpPr>
          <p:cNvPr id="3" name="Conector recto de flecha 2">
            <a:extLst>
              <a:ext uri="{FF2B5EF4-FFF2-40B4-BE49-F238E27FC236}">
                <a16:creationId xmlns:a16="http://schemas.microsoft.com/office/drawing/2014/main" id="{7C67042D-4F73-D6E1-808F-8626C1B97689}"/>
              </a:ext>
            </a:extLst>
          </p:cNvPr>
          <p:cNvCxnSpPr/>
          <p:nvPr/>
        </p:nvCxnSpPr>
        <p:spPr>
          <a:xfrm flipV="1">
            <a:off x="441158" y="4431970"/>
            <a:ext cx="11148356" cy="6344"/>
          </a:xfrm>
          <a:prstGeom prst="straightConnector1">
            <a:avLst/>
          </a:prstGeom>
          <a:ln w="57150">
            <a:prstDash val="sysDot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Google Shape;92;p13">
            <a:extLst>
              <a:ext uri="{FF2B5EF4-FFF2-40B4-BE49-F238E27FC236}">
                <a16:creationId xmlns:a16="http://schemas.microsoft.com/office/drawing/2014/main" id="{1B896F58-7501-D5CD-9817-C1217E9B034E}"/>
              </a:ext>
            </a:extLst>
          </p:cNvPr>
          <p:cNvSpPr txBox="1"/>
          <p:nvPr/>
        </p:nvSpPr>
        <p:spPr>
          <a:xfrm>
            <a:off x="609600" y="4730948"/>
            <a:ext cx="3226500" cy="13849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00" b="0" i="0" u="none" strike="noStrike" cap="none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ESTUDIANTES</a:t>
            </a:r>
            <a:r>
              <a:rPr lang="en-US" sz="900">
                <a:solidFill>
                  <a:srgbClr val="64748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:</a:t>
            </a:r>
            <a:endParaRPr lang="en-US"/>
          </a:p>
        </p:txBody>
      </p:sp>
      <p:sp>
        <p:nvSpPr>
          <p:cNvPr id="7" name="Google Shape;93;p13">
            <a:extLst>
              <a:ext uri="{FF2B5EF4-FFF2-40B4-BE49-F238E27FC236}">
                <a16:creationId xmlns:a16="http://schemas.microsoft.com/office/drawing/2014/main" id="{64912561-9A30-3E94-631E-6108F005C7F8}"/>
              </a:ext>
            </a:extLst>
          </p:cNvPr>
          <p:cNvSpPr txBox="1"/>
          <p:nvPr/>
        </p:nvSpPr>
        <p:spPr>
          <a:xfrm>
            <a:off x="609599" y="4963584"/>
            <a:ext cx="3226500" cy="207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 spc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David Serrano &amp; Gabriel Vargas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14"/>
          <p:cNvSpPr/>
          <p:nvPr/>
        </p:nvSpPr>
        <p:spPr>
          <a:xfrm>
            <a:off x="609600" y="3017639"/>
            <a:ext cx="3505200" cy="2051446"/>
          </a:xfrm>
          <a:prstGeom prst="roundRect">
            <a:avLst>
              <a:gd name="adj" fmla="val 5571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1" name="Google Shape;101;p14"/>
          <p:cNvSpPr/>
          <p:nvPr/>
        </p:nvSpPr>
        <p:spPr>
          <a:xfrm>
            <a:off x="4343400" y="3017639"/>
            <a:ext cx="3505200" cy="2051446"/>
          </a:xfrm>
          <a:prstGeom prst="roundRect">
            <a:avLst>
              <a:gd name="adj" fmla="val 5571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2" name="Google Shape;102;p14"/>
          <p:cNvSpPr/>
          <p:nvPr/>
        </p:nvSpPr>
        <p:spPr>
          <a:xfrm>
            <a:off x="8077200" y="3017639"/>
            <a:ext cx="3505200" cy="2051446"/>
          </a:xfrm>
          <a:prstGeom prst="roundRect">
            <a:avLst>
              <a:gd name="adj" fmla="val 5571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3" name="Google Shape;10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923925" y="33319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4" name="Google Shape;10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657725" y="33319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5" name="Google Shape;10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391525" y="3331964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6" name="Google Shape;10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047750" y="345578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4781550" y="3455789"/>
            <a:ext cx="209550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8515350" y="3455789"/>
            <a:ext cx="209550" cy="20955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MOTIVACIÓN DEL PROYECTO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¿Por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qué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simular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caché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gráficos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3D?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1" name="Google Shape;111;p14"/>
          <p:cNvSpPr txBox="1"/>
          <p:nvPr/>
        </p:nvSpPr>
        <p:spPr>
          <a:xfrm>
            <a:off x="609600" y="1323975"/>
            <a:ext cx="8191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renderizado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3D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moderno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procesa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millones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datos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segundo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 El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cuello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botella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principal no es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capacidad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cálculo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,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sino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memoria VRAM.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12" name="Google Shape;112;p14"/>
          <p:cNvSpPr txBox="1"/>
          <p:nvPr/>
        </p:nvSpPr>
        <p:spPr>
          <a:xfrm>
            <a:off x="923925" y="3941564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Cuello de Botella</a:t>
            </a:r>
            <a:endParaRPr/>
          </a:p>
        </p:txBody>
      </p:sp>
      <p:sp>
        <p:nvSpPr>
          <p:cNvPr id="113" name="Google Shape;113;p14"/>
          <p:cNvSpPr txBox="1"/>
          <p:nvPr/>
        </p:nvSpPr>
        <p:spPr>
          <a:xfrm>
            <a:off x="923925" y="4274939"/>
            <a:ext cx="29718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Acceso a VRAM requiere cientos de ciclos de espera.</a:t>
            </a:r>
            <a:endParaRPr/>
          </a:p>
        </p:txBody>
      </p:sp>
      <p:sp>
        <p:nvSpPr>
          <p:cNvPr id="114" name="Google Shape;114;p14"/>
          <p:cNvSpPr txBox="1"/>
          <p:nvPr/>
        </p:nvSpPr>
        <p:spPr>
          <a:xfrm>
            <a:off x="4657725" y="3941564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Reuso de Datos</a:t>
            </a:r>
            <a:endParaRPr/>
          </a:p>
        </p:txBody>
      </p:sp>
      <p:sp>
        <p:nvSpPr>
          <p:cNvPr id="115" name="Google Shape;115;p14"/>
          <p:cNvSpPr txBox="1"/>
          <p:nvPr/>
        </p:nvSpPr>
        <p:spPr>
          <a:xfrm>
            <a:off x="4657725" y="4274939"/>
            <a:ext cx="29718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Reutilización masiva de vértices y texeles compartidos.</a:t>
            </a:r>
            <a:endParaRPr/>
          </a:p>
        </p:txBody>
      </p:sp>
      <p:sp>
        <p:nvSpPr>
          <p:cNvPr id="116" name="Google Shape;116;p14"/>
          <p:cNvSpPr txBox="1"/>
          <p:nvPr/>
        </p:nvSpPr>
        <p:spPr>
          <a:xfrm>
            <a:off x="8391525" y="3941564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Evaluación de Impacto</a:t>
            </a:r>
            <a:endParaRPr/>
          </a:p>
        </p:txBody>
      </p:sp>
      <p:sp>
        <p:nvSpPr>
          <p:cNvPr id="117" name="Google Shape;117;p14"/>
          <p:cNvSpPr txBox="1"/>
          <p:nvPr/>
        </p:nvSpPr>
        <p:spPr>
          <a:xfrm>
            <a:off x="8391525" y="4274939"/>
            <a:ext cx="29718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Análisis de patrones de acceso lineal frente a 2D.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15"/>
          <p:cNvSpPr/>
          <p:nvPr/>
        </p:nvSpPr>
        <p:spPr>
          <a:xfrm>
            <a:off x="609600" y="3062287"/>
            <a:ext cx="3505200" cy="1962150"/>
          </a:xfrm>
          <a:prstGeom prst="roundRect">
            <a:avLst>
              <a:gd name="adj" fmla="val 582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15"/>
          <p:cNvSpPr/>
          <p:nvPr/>
        </p:nvSpPr>
        <p:spPr>
          <a:xfrm>
            <a:off x="4343400" y="3062287"/>
            <a:ext cx="3505200" cy="1962150"/>
          </a:xfrm>
          <a:prstGeom prst="roundRect">
            <a:avLst>
              <a:gd name="adj" fmla="val 582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4" name="Google Shape;124;p15"/>
          <p:cNvSpPr/>
          <p:nvPr/>
        </p:nvSpPr>
        <p:spPr>
          <a:xfrm>
            <a:off x="8077200" y="3062287"/>
            <a:ext cx="3505200" cy="1962150"/>
          </a:xfrm>
          <a:prstGeom prst="roundRect">
            <a:avLst>
              <a:gd name="adj" fmla="val 582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5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ALCANCE DEL PROYECTO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¿A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qué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se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desea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llegar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este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simulador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?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27" name="Google Shape;127;p15"/>
          <p:cNvSpPr txBox="1"/>
          <p:nvPr/>
        </p:nvSpPr>
        <p:spPr>
          <a:xfrm>
            <a:off x="609600" y="1323975"/>
            <a:ext cx="8191500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Cuantificar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experimentalmente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rendimiento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jerarquía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memoria ante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diversas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cargas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trabajo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GPU.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28" name="Google Shape;128;p15"/>
          <p:cNvSpPr txBox="1"/>
          <p:nvPr/>
        </p:nvSpPr>
        <p:spPr>
          <a:xfrm>
            <a:off x="923925" y="3376612"/>
            <a:ext cx="359568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01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23925" y="39576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Hit Ratio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23925" y="4271962"/>
            <a:ext cx="29718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Medir porcentaje de aciertos en caché.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4657725" y="3376612"/>
            <a:ext cx="359568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02</a:t>
            </a:r>
            <a:endParaRPr/>
          </a:p>
        </p:txBody>
      </p:sp>
      <p:sp>
        <p:nvSpPr>
          <p:cNvPr id="132" name="Google Shape;132;p15"/>
          <p:cNvSpPr txBox="1"/>
          <p:nvPr/>
        </p:nvSpPr>
        <p:spPr>
          <a:xfrm>
            <a:off x="4657725" y="39576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Tráfico VRAM</a:t>
            </a:r>
            <a:endParaRPr/>
          </a:p>
        </p:txBody>
      </p:sp>
      <p:sp>
        <p:nvSpPr>
          <p:cNvPr id="133" name="Google Shape;133;p15"/>
          <p:cNvSpPr txBox="1"/>
          <p:nvPr/>
        </p:nvSpPr>
        <p:spPr>
          <a:xfrm>
            <a:off x="4657725" y="4271962"/>
            <a:ext cx="29718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Evaluar escrituras con Write-Back y Write-Through.</a:t>
            </a:r>
            <a:endParaRPr/>
          </a:p>
        </p:txBody>
      </p:sp>
      <p:sp>
        <p:nvSpPr>
          <p:cNvPr id="134" name="Google Shape;134;p15"/>
          <p:cNvSpPr txBox="1"/>
          <p:nvPr/>
        </p:nvSpPr>
        <p:spPr>
          <a:xfrm>
            <a:off x="8391525" y="3376612"/>
            <a:ext cx="3595687" cy="5048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1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03</a:t>
            </a:r>
            <a:endParaRPr/>
          </a:p>
        </p:txBody>
      </p:sp>
      <p:sp>
        <p:nvSpPr>
          <p:cNvPr id="135" name="Google Shape;135;p15"/>
          <p:cNvSpPr txBox="1"/>
          <p:nvPr/>
        </p:nvSpPr>
        <p:spPr>
          <a:xfrm>
            <a:off x="8391525" y="3957637"/>
            <a:ext cx="3775471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Prefetching</a:t>
            </a:r>
            <a:endParaRPr/>
          </a:p>
        </p:txBody>
      </p:sp>
      <p:sp>
        <p:nvSpPr>
          <p:cNvPr id="136" name="Google Shape;136;p15"/>
          <p:cNvSpPr txBox="1"/>
          <p:nvPr/>
        </p:nvSpPr>
        <p:spPr>
          <a:xfrm>
            <a:off x="8391525" y="4271962"/>
            <a:ext cx="2971800" cy="438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Analizar reducción de latencia con precarga N+1.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16"/>
          <p:cNvSpPr/>
          <p:nvPr/>
        </p:nvSpPr>
        <p:spPr>
          <a:xfrm>
            <a:off x="609600" y="262413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4472C4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&lt;iostream&gt;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16"/>
          <p:cNvSpPr/>
          <p:nvPr/>
        </p:nvSpPr>
        <p:spPr>
          <a:xfrm>
            <a:off x="4317950" y="262413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&lt;vector&gt;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3" name="Google Shape;143;p16"/>
          <p:cNvSpPr/>
          <p:nvPr/>
        </p:nvSpPr>
        <p:spPr>
          <a:xfrm>
            <a:off x="8026300" y="2624137"/>
            <a:ext cx="3556099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&lt;list&gt;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6"/>
          <p:cNvSpPr/>
          <p:nvPr/>
        </p:nvSpPr>
        <p:spPr>
          <a:xfrm>
            <a:off x="609600" y="355758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&lt;unordered_map&gt;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6"/>
          <p:cNvSpPr/>
          <p:nvPr/>
        </p:nvSpPr>
        <p:spPr>
          <a:xfrm>
            <a:off x="4317950" y="355758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&lt;cstdint&gt;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6"/>
          <p:cNvSpPr/>
          <p:nvPr/>
        </p:nvSpPr>
        <p:spPr>
          <a:xfrm>
            <a:off x="8026300" y="3557587"/>
            <a:ext cx="3556099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&lt;iomanip&gt;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6"/>
          <p:cNvSpPr/>
          <p:nvPr/>
        </p:nvSpPr>
        <p:spPr>
          <a:xfrm>
            <a:off x="609600" y="449103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&lt;string&gt;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16"/>
          <p:cNvSpPr/>
          <p:nvPr/>
        </p:nvSpPr>
        <p:spPr>
          <a:xfrm>
            <a:off x="4317950" y="4491037"/>
            <a:ext cx="3555950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&lt;fstream&gt;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16"/>
          <p:cNvSpPr/>
          <p:nvPr/>
        </p:nvSpPr>
        <p:spPr>
          <a:xfrm>
            <a:off x="8026300" y="4491037"/>
            <a:ext cx="3556099" cy="781050"/>
          </a:xfrm>
          <a:prstGeom prst="roundRect">
            <a:avLst>
              <a:gd name="adj" fmla="val 12195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-ES" b="1" i="0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</a:rPr>
              <a:t>&lt;cmath&gt;</a:t>
            </a: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16"/>
          <p:cNvSpPr txBox="1"/>
          <p:nvPr/>
        </p:nvSpPr>
        <p:spPr>
          <a:xfrm>
            <a:off x="609600" y="4572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ARQUITECTURA DE SOFTWARE</a:t>
            </a:r>
            <a:endParaRPr/>
          </a:p>
        </p:txBody>
      </p:sp>
      <p:sp>
        <p:nvSpPr>
          <p:cNvPr id="151" name="Google Shape;151;p16"/>
          <p:cNvSpPr txBox="1"/>
          <p:nvPr/>
        </p:nvSpPr>
        <p:spPr>
          <a:xfrm>
            <a:off x="609600" y="685800"/>
            <a:ext cx="11582400" cy="3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Librerías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Estándar</a:t>
            </a:r>
            <a:r>
              <a:rPr lang="en-US" sz="24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C++ </a:t>
            </a:r>
            <a:r>
              <a:rPr lang="en-US" sz="24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Utilizadas</a:t>
            </a:r>
            <a:endParaRPr lang="es-ES" dirty="0" err="1">
              <a:solidFill>
                <a:schemeClr val="bg1"/>
              </a:solidFill>
            </a:endParaRPr>
          </a:p>
        </p:txBody>
      </p:sp>
      <p:sp>
        <p:nvSpPr>
          <p:cNvPr id="152" name="Google Shape;152;p16"/>
          <p:cNvSpPr txBox="1"/>
          <p:nvPr/>
        </p:nvSpPr>
        <p:spPr>
          <a:xfrm>
            <a:off x="609600" y="1143000"/>
            <a:ext cx="11582400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Nueve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módulos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nativos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empleados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estructurar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el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20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métricas</a:t>
            </a:r>
            <a:r>
              <a:rPr lang="en-US" sz="120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53" name="Google Shape;153;p16"/>
          <p:cNvSpPr txBox="1"/>
          <p:nvPr/>
        </p:nvSpPr>
        <p:spPr>
          <a:xfrm>
            <a:off x="1076993" y="3217026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Flujos de entrada y salida por consola.</a:t>
            </a:r>
            <a:endParaRPr/>
          </a:p>
        </p:txBody>
      </p:sp>
      <p:sp>
        <p:nvSpPr>
          <p:cNvPr id="154" name="Google Shape;154;p16"/>
          <p:cNvSpPr txBox="1"/>
          <p:nvPr/>
        </p:nvSpPr>
        <p:spPr>
          <a:xfrm>
            <a:off x="4517975" y="3217026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Contenedor dinámico de memoria contigua.</a:t>
            </a:r>
            <a:endParaRPr/>
          </a:p>
        </p:txBody>
      </p:sp>
      <p:sp>
        <p:nvSpPr>
          <p:cNvPr id="155" name="Google Shape;155;p16"/>
          <p:cNvSpPr txBox="1"/>
          <p:nvPr/>
        </p:nvSpPr>
        <p:spPr>
          <a:xfrm>
            <a:off x="8253062" y="3217026"/>
            <a:ext cx="394506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Lista enlazada para mantener orden LRU.</a:t>
            </a:r>
            <a:endParaRPr/>
          </a:p>
        </p:txBody>
      </p:sp>
      <p:sp>
        <p:nvSpPr>
          <p:cNvPr id="156" name="Google Shape;156;p16"/>
          <p:cNvSpPr txBox="1"/>
          <p:nvPr/>
        </p:nvSpPr>
        <p:spPr>
          <a:xfrm>
            <a:off x="809625" y="4163845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Tabla Hash para búsqueda rápida de bloques.</a:t>
            </a:r>
            <a:endParaRPr/>
          </a:p>
        </p:txBody>
      </p:sp>
      <p:sp>
        <p:nvSpPr>
          <p:cNvPr id="157" name="Google Shape;157;p16"/>
          <p:cNvSpPr txBox="1"/>
          <p:nvPr/>
        </p:nvSpPr>
        <p:spPr>
          <a:xfrm>
            <a:off x="4624922" y="4163845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Enteros con ancho fijo de 32 y 64 bits.</a:t>
            </a:r>
            <a:endParaRPr/>
          </a:p>
        </p:txBody>
      </p:sp>
      <p:sp>
        <p:nvSpPr>
          <p:cNvPr id="158" name="Google Shape;158;p16"/>
          <p:cNvSpPr txBox="1"/>
          <p:nvPr/>
        </p:nvSpPr>
        <p:spPr>
          <a:xfrm>
            <a:off x="8466957" y="4163845"/>
            <a:ext cx="394506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Formateo de precisión y decimales.</a:t>
            </a:r>
            <a:endParaRPr/>
          </a:p>
        </p:txBody>
      </p:sp>
      <p:sp>
        <p:nvSpPr>
          <p:cNvPr id="159" name="Google Shape;159;p16"/>
          <p:cNvSpPr txBox="1"/>
          <p:nvPr/>
        </p:nvSpPr>
        <p:spPr>
          <a:xfrm>
            <a:off x="929941" y="5097295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Manejo y formateo de cadenas de texto.</a:t>
            </a:r>
            <a:endParaRPr/>
          </a:p>
        </p:txBody>
      </p:sp>
      <p:sp>
        <p:nvSpPr>
          <p:cNvPr id="160" name="Google Shape;160;p16"/>
          <p:cNvSpPr txBox="1"/>
          <p:nvPr/>
        </p:nvSpPr>
        <p:spPr>
          <a:xfrm>
            <a:off x="4624922" y="5083926"/>
            <a:ext cx="39448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Exportación de informes a archivos CSV.</a:t>
            </a:r>
            <a:endParaRPr/>
          </a:p>
        </p:txBody>
      </p:sp>
      <p:sp>
        <p:nvSpPr>
          <p:cNvPr id="161" name="Google Shape;161;p16"/>
          <p:cNvSpPr txBox="1"/>
          <p:nvPr/>
        </p:nvSpPr>
        <p:spPr>
          <a:xfrm>
            <a:off x="8253062" y="5003716"/>
            <a:ext cx="3945061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Operaciones matemáticas e intercalado.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17"/>
          <p:cNvSpPr/>
          <p:nvPr/>
        </p:nvSpPr>
        <p:spPr>
          <a:xfrm>
            <a:off x="6096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7"/>
          <p:cNvSpPr/>
          <p:nvPr/>
        </p:nvSpPr>
        <p:spPr>
          <a:xfrm>
            <a:off x="43434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/>
          <p:nvPr/>
        </p:nvSpPr>
        <p:spPr>
          <a:xfrm>
            <a:off x="80772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7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DISEÑO DE ARQUITECTURA</a:t>
            </a:r>
            <a:endParaRPr/>
          </a:p>
        </p:txBody>
      </p:sp>
      <p:sp>
        <p:nvSpPr>
          <p:cNvPr id="170" name="Google Shape;170;p17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Modelo de Hardware de la Caché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71" name="Google Shape;171;p17"/>
          <p:cNvSpPr txBox="1"/>
          <p:nvPr/>
        </p:nvSpPr>
        <p:spPr>
          <a:xfrm>
            <a:off x="609600" y="1323975"/>
            <a:ext cx="1012031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Funcionamiento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simplificado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caché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asociativa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por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conjuntos (Set-Associative).</a:t>
            </a:r>
            <a:endParaRPr lang="es-ES">
              <a:solidFill>
                <a:schemeClr val="bg1"/>
              </a:solidFill>
            </a:endParaRPr>
          </a:p>
        </p:txBody>
      </p:sp>
      <p:sp>
        <p:nvSpPr>
          <p:cNvPr id="172" name="Google Shape;172;p17"/>
          <p:cNvSpPr txBox="1"/>
          <p:nvPr/>
        </p:nvSpPr>
        <p:spPr>
          <a:xfrm>
            <a:off x="885825" y="3527226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Descomposición de Dirección</a:t>
            </a:r>
            <a:endParaRPr/>
          </a:p>
        </p:txBody>
      </p:sp>
      <p:sp>
        <p:nvSpPr>
          <p:cNvPr id="173" name="Google Shape;173;p17"/>
          <p:cNvSpPr txBox="1"/>
          <p:nvPr/>
        </p:nvSpPr>
        <p:spPr>
          <a:xfrm>
            <a:off x="8858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Dirección de 64 bits dividida en Tag, Índice de Set y Offset de Bloque.</a:t>
            </a:r>
            <a:endParaRPr/>
          </a:p>
        </p:txBody>
      </p:sp>
      <p:sp>
        <p:nvSpPr>
          <p:cNvPr id="174" name="Google Shape;174;p17"/>
          <p:cNvSpPr txBox="1"/>
          <p:nvPr/>
        </p:nvSpPr>
        <p:spPr>
          <a:xfrm>
            <a:off x="4619625" y="3527226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Estructura de 4 Vías</a:t>
            </a:r>
            <a:endParaRPr/>
          </a:p>
        </p:txBody>
      </p:sp>
      <p:sp>
        <p:nvSpPr>
          <p:cNvPr id="175" name="Google Shape;175;p17"/>
          <p:cNvSpPr txBox="1"/>
          <p:nvPr/>
        </p:nvSpPr>
        <p:spPr>
          <a:xfrm>
            <a:off x="46196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Cada conjunto contiene 4 bloques con política de reemplazo LRU.</a:t>
            </a:r>
            <a:endParaRPr/>
          </a:p>
        </p:txBody>
      </p:sp>
      <p:sp>
        <p:nvSpPr>
          <p:cNvPr id="176" name="Google Shape;176;p17"/>
          <p:cNvSpPr txBox="1"/>
          <p:nvPr/>
        </p:nvSpPr>
        <p:spPr>
          <a:xfrm>
            <a:off x="8353425" y="3527226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Costos de Latencia</a:t>
            </a:r>
            <a:endParaRPr/>
          </a:p>
        </p:txBody>
      </p:sp>
      <p:sp>
        <p:nvSpPr>
          <p:cNvPr id="177" name="Google Shape;177;p17"/>
          <p:cNvSpPr txBox="1"/>
          <p:nvPr/>
        </p:nvSpPr>
        <p:spPr>
          <a:xfrm>
            <a:off x="83534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1 ciclo por acierto en caché versus 100 ciclos por fallo en VRAM.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18"/>
          <p:cNvSpPr/>
          <p:nvPr/>
        </p:nvSpPr>
        <p:spPr>
          <a:xfrm>
            <a:off x="609600" y="2970014"/>
            <a:ext cx="5381625" cy="1927621"/>
          </a:xfrm>
          <a:prstGeom prst="roundRect">
            <a:avLst>
              <a:gd name="adj" fmla="val 5929"/>
            </a:avLst>
          </a:prstGeom>
          <a:solidFill>
            <a:schemeClr val="bg2">
              <a:lumMod val="20000"/>
              <a:lumOff val="80000"/>
            </a:schemeClr>
          </a:solidFill>
          <a:ln w="19050" cap="flat" cmpd="sng">
            <a:solidFill>
              <a:srgbClr val="2563EB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8"/>
          <p:cNvSpPr/>
          <p:nvPr/>
        </p:nvSpPr>
        <p:spPr>
          <a:xfrm>
            <a:off x="6219825" y="2979539"/>
            <a:ext cx="5362575" cy="1908571"/>
          </a:xfrm>
          <a:prstGeom prst="roundRect">
            <a:avLst>
              <a:gd name="adj" fmla="val 5988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8"/>
          <p:cNvSpPr/>
          <p:nvPr/>
        </p:nvSpPr>
        <p:spPr>
          <a:xfrm>
            <a:off x="933450" y="3293864"/>
            <a:ext cx="1304925" cy="285750"/>
          </a:xfrm>
          <a:prstGeom prst="roundRect">
            <a:avLst>
              <a:gd name="adj" fmla="val 20000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8"/>
          <p:cNvSpPr/>
          <p:nvPr/>
        </p:nvSpPr>
        <p:spPr>
          <a:xfrm>
            <a:off x="6534150" y="3293864"/>
            <a:ext cx="1190625" cy="285750"/>
          </a:xfrm>
          <a:prstGeom prst="roundRect">
            <a:avLst>
              <a:gd name="adj" fmla="val 20000"/>
            </a:avLst>
          </a:prstGeom>
          <a:solidFill>
            <a:srgbClr val="F1F5F9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8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GESTIÓN DE MEMORIA</a:t>
            </a:r>
            <a:endParaRPr/>
          </a:p>
        </p:txBody>
      </p:sp>
      <p:sp>
        <p:nvSpPr>
          <p:cNvPr id="187" name="Google Shape;187;p18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Optimizaciones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Escritura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en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Framebuffer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8" name="Google Shape;188;p18"/>
          <p:cNvSpPr txBox="1"/>
          <p:nvPr/>
        </p:nvSpPr>
        <p:spPr>
          <a:xfrm>
            <a:off x="609600" y="1323975"/>
            <a:ext cx="1012031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Comparativa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políticas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escritura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durante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etapa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rasterización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(ROP).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189" name="Google Shape;189;p18"/>
          <p:cNvSpPr txBox="1"/>
          <p:nvPr/>
        </p:nvSpPr>
        <p:spPr>
          <a:xfrm>
            <a:off x="1047750" y="3351014"/>
            <a:ext cx="1171575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RECOMENDADO</a:t>
            </a:r>
            <a:endParaRPr/>
          </a:p>
        </p:txBody>
      </p:sp>
      <p:sp>
        <p:nvSpPr>
          <p:cNvPr id="190" name="Google Shape;190;p18"/>
          <p:cNvSpPr txBox="1"/>
          <p:nvPr/>
        </p:nvSpPr>
        <p:spPr>
          <a:xfrm>
            <a:off x="933450" y="3693914"/>
            <a:ext cx="6213276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Write-Back</a:t>
            </a:r>
            <a:endParaRPr/>
          </a:p>
        </p:txBody>
      </p:sp>
      <p:sp>
        <p:nvSpPr>
          <p:cNvPr id="191" name="Google Shape;191;p18"/>
          <p:cNvSpPr txBox="1"/>
          <p:nvPr/>
        </p:nvSpPr>
        <p:spPr>
          <a:xfrm>
            <a:off x="933450" y="4093964"/>
            <a:ext cx="48291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Modifica únicamente la caché. Escribe en VRAM solo al expulsar bloques modificados via Dirty Bit.</a:t>
            </a:r>
            <a:endParaRPr/>
          </a:p>
        </p:txBody>
      </p:sp>
      <p:sp>
        <p:nvSpPr>
          <p:cNvPr id="192" name="Google Shape;192;p18"/>
          <p:cNvSpPr txBox="1"/>
          <p:nvPr/>
        </p:nvSpPr>
        <p:spPr>
          <a:xfrm>
            <a:off x="6648450" y="3351014"/>
            <a:ext cx="1057275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chemeClr val="bg2">
                    <a:lumMod val="60000"/>
                    <a:lumOff val="40000"/>
                  </a:schemeClr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ALTO TRÁFICO</a:t>
            </a:r>
            <a:endParaRPr lang="es-ES">
              <a:solidFill>
                <a:schemeClr val="bg2">
                  <a:lumMod val="60000"/>
                  <a:lumOff val="40000"/>
                </a:schemeClr>
              </a:solidFill>
            </a:endParaRPr>
          </a:p>
        </p:txBody>
      </p:sp>
      <p:sp>
        <p:nvSpPr>
          <p:cNvPr id="193" name="Google Shape;193;p18"/>
          <p:cNvSpPr txBox="1"/>
          <p:nvPr/>
        </p:nvSpPr>
        <p:spPr>
          <a:xfrm>
            <a:off x="6534150" y="3693914"/>
            <a:ext cx="5657850" cy="285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1" i="0" u="none" strike="noStrike" cap="none">
                <a:solidFill>
                  <a:srgbClr val="0F172A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Write-Through</a:t>
            </a:r>
            <a:endParaRPr/>
          </a:p>
        </p:txBody>
      </p:sp>
      <p:sp>
        <p:nvSpPr>
          <p:cNvPr id="194" name="Google Shape;194;p18"/>
          <p:cNvSpPr txBox="1"/>
          <p:nvPr/>
        </p:nvSpPr>
        <p:spPr>
          <a:xfrm>
            <a:off x="6534150" y="4093964"/>
            <a:ext cx="4829175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Actualiza la VRAM inmediatamente en cada escritura. Genera saturación constante del bus.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>
            <a:lumMod val="50000"/>
          </a:schemeClr>
        </a:solidFill>
        <a:effectLst/>
      </p:bgPr>
    </p:bg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9"/>
          <p:cNvSpPr/>
          <p:nvPr/>
        </p:nvSpPr>
        <p:spPr>
          <a:xfrm>
            <a:off x="6096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43434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8077200" y="3251001"/>
            <a:ext cx="3505200" cy="1365646"/>
          </a:xfrm>
          <a:prstGeom prst="roundRect">
            <a:avLst>
              <a:gd name="adj" fmla="val 8369"/>
            </a:avLst>
          </a:prstGeom>
          <a:solidFill>
            <a:schemeClr val="bg2">
              <a:lumMod val="20000"/>
              <a:lumOff val="80000"/>
            </a:schemeClr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RENDIMIENTO ESPACIAL</a:t>
            </a:r>
            <a:endParaRPr/>
          </a:p>
        </p:txBody>
      </p:sp>
      <p:sp>
        <p:nvSpPr>
          <p:cNvPr id="203" name="Google Shape;203;p19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Optimizaciones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Latencia</a:t>
            </a:r>
            <a:r>
              <a:rPr lang="en-US" sz="2700" b="1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2700" b="1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Acceso</a:t>
            </a:r>
            <a:endParaRPr lang="es-ES" dirty="0" err="1">
              <a:solidFill>
                <a:schemeClr val="bg1"/>
              </a:solidFill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609600" y="1323975"/>
            <a:ext cx="10120312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Técnicas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pre-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captura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y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distribución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de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texturas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para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maximizar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la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localidad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 </a:t>
            </a:r>
            <a:r>
              <a:rPr lang="en-US" sz="1350" b="0" i="0" u="none" strike="noStrike" cap="none" dirty="0" err="1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espacial</a:t>
            </a:r>
            <a:r>
              <a:rPr lang="en-US" sz="1350" b="0" i="0" u="none" strike="noStrike" cap="none" dirty="0">
                <a:solidFill>
                  <a:schemeClr val="bg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.</a:t>
            </a:r>
            <a:endParaRPr lang="es-ES" dirty="0">
              <a:solidFill>
                <a:schemeClr val="bg1"/>
              </a:solidFill>
            </a:endParaRPr>
          </a:p>
        </p:txBody>
      </p:sp>
      <p:sp>
        <p:nvSpPr>
          <p:cNvPr id="205" name="Google Shape;205;p19"/>
          <p:cNvSpPr txBox="1"/>
          <p:nvPr/>
        </p:nvSpPr>
        <p:spPr>
          <a:xfrm>
            <a:off x="885825" y="3527226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Prefetching N+1</a:t>
            </a:r>
            <a:endParaRPr/>
          </a:p>
        </p:txBody>
      </p:sp>
      <p:sp>
        <p:nvSpPr>
          <p:cNvPr id="206" name="Google Shape;206;p19"/>
          <p:cNvSpPr txBox="1"/>
          <p:nvPr/>
        </p:nvSpPr>
        <p:spPr>
          <a:xfrm>
            <a:off x="8858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Precarga anticipada del siguiente bloque contiguo.</a:t>
            </a:r>
            <a:endParaRPr/>
          </a:p>
        </p:txBody>
      </p:sp>
      <p:sp>
        <p:nvSpPr>
          <p:cNvPr id="207" name="Google Shape;207;p19"/>
          <p:cNvSpPr txBox="1"/>
          <p:nvPr/>
        </p:nvSpPr>
        <p:spPr>
          <a:xfrm>
            <a:off x="4619625" y="3527226"/>
            <a:ext cx="3875484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Texturizado Tiled 8x8</a:t>
            </a:r>
            <a:endParaRPr/>
          </a:p>
        </p:txBody>
      </p:sp>
      <p:sp>
        <p:nvSpPr>
          <p:cNvPr id="208" name="Google Shape;208;p19"/>
          <p:cNvSpPr txBox="1"/>
          <p:nvPr/>
        </p:nvSpPr>
        <p:spPr>
          <a:xfrm>
            <a:off x="46196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Agrupa texeles en bloques 2D contiguos en memoria.</a:t>
            </a:r>
            <a:endParaRPr/>
          </a:p>
        </p:txBody>
      </p:sp>
      <p:sp>
        <p:nvSpPr>
          <p:cNvPr id="209" name="Google Shape;209;p19"/>
          <p:cNvSpPr txBox="1"/>
          <p:nvPr/>
        </p:nvSpPr>
        <p:spPr>
          <a:xfrm>
            <a:off x="8353425" y="3527226"/>
            <a:ext cx="3838575" cy="238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2563E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Curva Z de Morton</a:t>
            </a:r>
            <a:endParaRPr/>
          </a:p>
        </p:txBody>
      </p:sp>
      <p:sp>
        <p:nvSpPr>
          <p:cNvPr id="210" name="Google Shape;210;p19"/>
          <p:cNvSpPr txBox="1"/>
          <p:nvPr/>
        </p:nvSpPr>
        <p:spPr>
          <a:xfrm>
            <a:off x="8353425" y="3860601"/>
            <a:ext cx="30480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475569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Intercalado de bits para mapas 2D multidimensionales.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609600" y="2872978"/>
            <a:ext cx="5334000" cy="2121693"/>
          </a:xfrm>
          <a:prstGeom prst="roundRect">
            <a:avLst>
              <a:gd name="adj" fmla="val 5387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1"/>
          <p:cNvSpPr/>
          <p:nvPr/>
        </p:nvSpPr>
        <p:spPr>
          <a:xfrm>
            <a:off x="6248400" y="2992933"/>
            <a:ext cx="5334000" cy="1881782"/>
          </a:xfrm>
          <a:prstGeom prst="roundRect">
            <a:avLst>
              <a:gd name="adj" fmla="val 607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1"/>
          <p:cNvSpPr txBox="1"/>
          <p:nvPr/>
        </p:nvSpPr>
        <p:spPr>
          <a:xfrm>
            <a:off x="609600" y="533400"/>
            <a:ext cx="11582400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Space Grotesk"/>
                <a:ea typeface="Space Grotesk"/>
                <a:cs typeface="Space Grotesk"/>
                <a:sym typeface="Space Grotesk"/>
              </a:rPr>
              <a:t>EVALUACIÓN Y TRABAJO FUTURO</a:t>
            </a:r>
            <a:endParaRPr/>
          </a:p>
        </p:txBody>
      </p:sp>
      <p:sp>
        <p:nvSpPr>
          <p:cNvPr id="234" name="Google Shape;234;p21"/>
          <p:cNvSpPr txBox="1"/>
          <p:nvPr/>
        </p:nvSpPr>
        <p:spPr>
          <a:xfrm>
            <a:off x="609600" y="781050"/>
            <a:ext cx="11582400" cy="428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i="0" u="none" strike="noStrike" cap="none">
                <a:solidFill>
                  <a:srgbClr val="F8FAFC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 y Posibles Mejoras</a:t>
            </a:r>
            <a:endParaRPr/>
          </a:p>
        </p:txBody>
      </p:sp>
      <p:sp>
        <p:nvSpPr>
          <p:cNvPr id="235" name="Google Shape;235;p21"/>
          <p:cNvSpPr txBox="1"/>
          <p:nvPr/>
        </p:nvSpPr>
        <p:spPr>
          <a:xfrm>
            <a:off x="609600" y="1323975"/>
            <a:ext cx="10120312" cy="219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94A3B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Resultados fundamentales de la simulación y líneas de extensión técnica.</a:t>
            </a:r>
            <a:endParaRPr/>
          </a:p>
        </p:txBody>
      </p:sp>
      <p:sp>
        <p:nvSpPr>
          <p:cNvPr id="236" name="Google Shape;236;p21"/>
          <p:cNvSpPr txBox="1"/>
          <p:nvPr/>
        </p:nvSpPr>
        <p:spPr>
          <a:xfrm>
            <a:off x="923925" y="3187303"/>
            <a:ext cx="6175771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38BDF8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Conclusiones</a:t>
            </a:r>
            <a:endParaRPr/>
          </a:p>
        </p:txBody>
      </p:sp>
      <p:sp>
        <p:nvSpPr>
          <p:cNvPr id="237" name="Google Shape;237;p21"/>
          <p:cNvSpPr txBox="1"/>
          <p:nvPr/>
        </p:nvSpPr>
        <p:spPr>
          <a:xfrm>
            <a:off x="923925" y="3606403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El layout Tiled y Morton reduce drásticamente los fallos en texturizado.</a:t>
            </a:r>
            <a:endParaRPr/>
          </a:p>
        </p:txBody>
      </p:sp>
      <p:sp>
        <p:nvSpPr>
          <p:cNvPr id="238" name="Google Shape;238;p21"/>
          <p:cNvSpPr txBox="1"/>
          <p:nvPr/>
        </p:nvSpPr>
        <p:spPr>
          <a:xfrm>
            <a:off x="923925" y="4200525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Write-Back es indispensable para evitar saturación en escrituras masivas.</a:t>
            </a:r>
            <a:endParaRPr/>
          </a:p>
        </p:txBody>
      </p:sp>
      <p:sp>
        <p:nvSpPr>
          <p:cNvPr id="239" name="Google Shape;239;p21"/>
          <p:cNvSpPr txBox="1"/>
          <p:nvPr/>
        </p:nvSpPr>
        <p:spPr>
          <a:xfrm>
            <a:off x="6562725" y="3307258"/>
            <a:ext cx="5629275" cy="2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F59E0B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Cosas por Mejorar</a:t>
            </a:r>
            <a:endParaRPr/>
          </a:p>
        </p:txBody>
      </p:sp>
      <p:sp>
        <p:nvSpPr>
          <p:cNvPr id="240" name="Google Shape;240;p21"/>
          <p:cNvSpPr txBox="1"/>
          <p:nvPr/>
        </p:nvSpPr>
        <p:spPr>
          <a:xfrm>
            <a:off x="6562725" y="3726358"/>
            <a:ext cx="5629275" cy="239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Prefetcher espacial bidimensional optimizado para GPUs.</a:t>
            </a:r>
            <a:endParaRPr/>
          </a:p>
        </p:txBody>
      </p:sp>
      <p:sp>
        <p:nvSpPr>
          <p:cNvPr id="241" name="Google Shape;241;p21"/>
          <p:cNvSpPr txBox="1"/>
          <p:nvPr/>
        </p:nvSpPr>
        <p:spPr>
          <a:xfrm>
            <a:off x="6562725" y="4080569"/>
            <a:ext cx="4800600" cy="479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399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Plus Jakarta Sans"/>
                <a:ea typeface="Plus Jakarta Sans"/>
                <a:cs typeface="Plus Jakarta Sans"/>
                <a:sym typeface="Plus Jakarta Sans"/>
              </a:rPr>
              <a:t>Simulación de jerarquías multinivel con concurrencia multihilo.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Panorámica</PresentationFormat>
  <Slides>8</Slides>
  <Notes>8</Notes>
  <HiddenSlides>0</HiddenSlide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8</vt:i4>
      </vt:variant>
    </vt:vector>
  </HeadingPairs>
  <TitlesOfParts>
    <vt:vector size="9" baseType="lpstr"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revision>75</cp:revision>
  <dcterms:modified xsi:type="dcterms:W3CDTF">2026-10-07T21:11:06Z</dcterms:modified>
</cp:coreProperties>
</file>